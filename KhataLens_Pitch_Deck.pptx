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121626"/>
          </a:solidFill>
          <a:ln w="19050">
            <a:solidFill>
              <a:srgbClr val="252F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868680"/>
            <a:ext cx="5669280" cy="329184"/>
          </a:xfrm>
          <a:prstGeom prst="roundRect">
            <a:avLst>
              <a:gd name="adj" fmla="val 50000"/>
            </a:avLst>
          </a:prstGeom>
          <a:solidFill>
            <a:srgbClr val="201A45"/>
          </a:solidFill>
          <a:ln w="15240">
            <a:solidFill>
              <a:srgbClr val="6C5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68680"/>
            <a:ext cx="5669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iQOO HACKATHON 2026 · FINTECH &amp; COMMERCE · HYDERABAD CITY BATTLE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KhataLens </a:t>
            </a:r>
            <a:pPr indent="0" marL="0">
              <a:buNone/>
            </a:pPr>
            <a:r>
              <a:rPr lang="en-US" sz="320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खाता लेंस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10362895" cy="685800"/>
          </a:xfrm>
          <a:prstGeom prst="rect">
            <a:avLst/>
          </a:prstGeom>
          <a:solidFill>
            <a:srgbClr val="181D33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756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 khata you don't have to type into."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Point. Speak. Confirm. Done. — Zero manual entry, 100% on-device local AI for India's micro-businesses.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880360"/>
            <a:ext cx="3291840" cy="2148840"/>
          </a:xfrm>
          <a:prstGeom prst="rect">
            <a:avLst/>
          </a:prstGeom>
          <a:solidFill>
            <a:srgbClr val="182038"/>
          </a:solidFill>
          <a:ln w="12700">
            <a:solidFill>
              <a:srgbClr val="252F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971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 VOICE → LEDGER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32918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Natural vernacular speech in Hindi, Telugu, and English.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Parses colloquial terms: "udhaar", "jama", "baaki", "diya".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Sub-350ms deterministic entity extraction on-device.
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typing required while handling counter rush.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43984" y="2880360"/>
            <a:ext cx="3291840" cy="2148840"/>
          </a:xfrm>
          <a:prstGeom prst="rect">
            <a:avLst/>
          </a:prstGeom>
          <a:solidFill>
            <a:srgbClr val="182038"/>
          </a:solidFill>
          <a:ln w="12700">
            <a:solidFill>
              <a:srgbClr val="252F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2971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CAMERA → LEDGER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81144" y="32918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Point phone at handwritten chits, diaries &amp; printed bills.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Client-side WebAssembly OCR (Tesseract.js engine).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Extracts Customer, Amount, Items into structured schema.
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Works instantly without scanning apps or cloud servers.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73568" y="2880360"/>
            <a:ext cx="3291840" cy="2148840"/>
          </a:xfrm>
          <a:prstGeom prst="rect">
            <a:avLst/>
          </a:prstGeom>
          <a:solidFill>
            <a:srgbClr val="182038"/>
          </a:solidFill>
          <a:ln w="12700">
            <a:solidFill>
              <a:srgbClr val="252F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728" y="2971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TRUST LAYER &amp; OFFICE KIT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10728" y="32918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silent commitments — Fast-Trust confirmation card.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Offline IndexedDB — All data remains private on phone.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"Ask my Khata" local conversational query assistant.
</a:t>
            </a:r>
            <a:pPr indent="0" marL="0">
              <a:buNone/>
            </a:pPr>
            <a:r>
              <a:rPr lang="en-US" sz="100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Office Kit: 1-click Excel/CSV reconciliation for laptop.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5166360"/>
            <a:ext cx="10362895" cy="868680"/>
          </a:xfrm>
          <a:prstGeom prst="rect">
            <a:avLst/>
          </a:prstGeom>
          <a:solidFill>
            <a:srgbClr val="0D111F"/>
          </a:solidFill>
          <a:ln w="12700">
            <a:solidFill>
              <a:srgbClr val="252F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23036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KHATALENS: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faraaz-748-019 (Full-Stack &amp; Local AI Lead)  |  </a:t>
            </a:r>
            <a:pPr indent="0" marL="0">
              <a:buNone/>
            </a:pPr>
            <a:r>
              <a:rPr lang="en-US" sz="105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REPO: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github.com/faraaz-748-019/IQOO  |  </a:t>
            </a:r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Installable &amp; Offline-Ready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Targeting India's 63M+ Kiranas, Chai Stalls, Vendors &amp; Small Workshops with zero cloud surveillance.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A12"/>
          </a:solidFill>
          <a:ln w="6350">
            <a:solidFill>
              <a:srgbClr val="252F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37160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201A4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HACKATHON 2026 · FINTECH &amp; COMMERCE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38912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PROBLEM: THE DATA-ENTRY BOTTLENECK IN INDIA'S RETAIL REALITY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15M+ kirana shops track ₹3.5 Lakh Cr in informal credit on paper — not an access problem, but a typing friction crisis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303520" cy="4114800"/>
          </a:xfrm>
          <a:prstGeom prst="rect">
            <a:avLst/>
          </a:prstGeom>
          <a:solidFill>
            <a:srgbClr val="121626"/>
          </a:solidFill>
          <a:ln w="12700">
            <a:solidFill>
              <a:srgbClr val="252F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25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THE MACRO REALITY: WHY PAPER STILL WINS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1691640"/>
            <a:ext cx="2377440" cy="914400"/>
          </a:xfrm>
          <a:prstGeom prst="rect">
            <a:avLst/>
          </a:prstGeom>
          <a:solidFill>
            <a:srgbClr val="182038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15M+ to 63M+
</a:t>
            </a:r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Micro-retailers run on daily paper credit (udhaar)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91840" y="1691640"/>
            <a:ext cx="2377440" cy="914400"/>
          </a:xfrm>
          <a:prstGeom prst="rect">
            <a:avLst/>
          </a:prstGeom>
          <a:solidFill>
            <a:srgbClr val="1820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₹3.5 Lakh Cr
</a:t>
            </a:r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unrecorded credit rotating in informal chits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Not a Smartphone Access Problem: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90%+ of Indian shopkeepers already carry 4G/5G Android smartphones with WhatsApp and UPI enabled.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The Severe Typing-Friction Wall: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Typing an entry takes 25–40 seconds on a 6-inch keyboard. In a busy shop counter with 5 customers waiting, 30 seconds is an eternity.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Severe Credit Leakage: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15–20% of informal credit is lost permanently due to lost scrap paper chits, disputed verbal promises, or forgotten entries.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5608015" cy="4114800"/>
          </a:xfrm>
          <a:prstGeom prst="rect">
            <a:avLst/>
          </a:prstGeom>
          <a:solidFill>
            <a:srgbClr val="121626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325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🏪 THE HUMAN MOMENT: 7:30 PM AT RAMESH'S KIRANA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691640"/>
            <a:ext cx="5242255" cy="2331720"/>
          </a:xfrm>
          <a:prstGeom prst="rect">
            <a:avLst/>
          </a:prstGeom>
          <a:solidFill>
            <a:srgbClr val="181D35"/>
          </a:solidFill>
          <a:ln w="12700">
            <a:solidFill>
              <a:srgbClr val="252F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737360"/>
            <a:ext cx="4937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Scene: Peak Evening Counter Rush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customers crowd the counter shouting orders for atta, oil, and spices. Rameshji's left hand is scooping sugar from a sack; his right hand is counting change. Dust and oil coat his fingers.
</a:t>
            </a:r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Crisis: A Regular Shouts an Udhaar Order
</a:t>
            </a:r>
            <a:pPr indent="0" marL="0">
              <a:buNone/>
            </a:pPr>
            <a:r>
              <a:rPr lang="en-US" sz="1100" b="1" i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"Ramesh bhai, 500 ka tel likh lena, kal shaam ko aake deta hoon!"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Impossible Choice: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Rameshji cannot wash his hands, unlock his phone, open a fintech app, search a contact, type ₹500, tap credit, and hit save. It is physically impossible. He scribbles on a scrap paper chit.
</a:t>
            </a:r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Cost: By 10:30 PM closing, 2 paper chits fell behind the rice sack. ₹1,200 is gone forever.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4160520"/>
            <a:ext cx="524225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Speed Barrier: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Shopkeepers need &lt;3 second logging, not 30-second multi-step UI forms.
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Trust Barrier: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Reluctant to upload confidential customer names &amp; cashflow to venture-backed clouds.
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Cognitive Barrier: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English-heavy accounting menus fail vernacular-first merchants in tier-2/3 India.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94415" cy="868680"/>
          </a:xfrm>
          <a:prstGeom prst="rect">
            <a:avLst/>
          </a:prstGeom>
          <a:solidFill>
            <a:srgbClr val="15112B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532120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INSIGHT: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failure of modern fintech isn't the ledger; it is the data-entry step. </a:t>
            </a:r>
            <a:pPr indent="0" marL="0">
              <a:buNone/>
            </a:pPr>
            <a:r>
              <a:rPr lang="en-US" sz="110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an app requires typing, merchants will always revert to paper chits during peak business hours. To win retail, we must eliminate typing entirely.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A12"/>
          </a:solidFill>
          <a:ln w="6350">
            <a:solidFill>
              <a:srgbClr val="252F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37160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201A4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HACKATHON 2026 · FINTECH &amp; COMMERCE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38912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EXISTING SOLUTIONS FALL SHORT: DIGITIZING THE LEDGER, NOT THE ENTRY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apps digitize the notebook, but keep 100% manual keyboard typing — failing when merchants are busiest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511296" cy="1325880"/>
          </a:xfrm>
          <a:prstGeom prst="rect">
            <a:avLst/>
          </a:prstGeom>
          <a:solidFill>
            <a:srgbClr val="121626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280160"/>
            <a:ext cx="3236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OKCREDIT &amp; KHATABOOK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3236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Digitized the notebook into an app, but kept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manual typing.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Requires searching contacts, selecting type, typing rupees.
</a:t>
            </a:r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Fatal Flaw: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Merchants stop using it during busy evening hours.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34256" y="1188720"/>
            <a:ext cx="3511296" cy="1325880"/>
          </a:xfrm>
          <a:prstGeom prst="rect">
            <a:avLst/>
          </a:prstGeom>
          <a:solidFill>
            <a:srgbClr val="12162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1416" y="1280160"/>
            <a:ext cx="3236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PAYMENT APPS (PHONEPE / PAYTM)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71416" y="1554480"/>
            <a:ext cx="3236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Excellent for QR audio soundboxes and UPI payments.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Completely blind to cash transactions &amp; credit ("udhaar").
</a:t>
            </a:r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Fatal Flaw: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65% of micro-retail happens in cash or credit.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19872" y="1188720"/>
            <a:ext cx="3511296" cy="1325880"/>
          </a:xfrm>
          <a:prstGeom prst="rect">
            <a:avLst/>
          </a:prstGeom>
          <a:solidFill>
            <a:srgbClr val="121626"/>
          </a:solidFill>
          <a:ln w="12700">
            <a:solidFill>
              <a:srgbClr val="00D2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280160"/>
            <a:ext cx="3236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GENERIC SCANNERS (LENS / OCR)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57032" y="1554480"/>
            <a:ext cx="32369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Output raw, unstructured text blocks or PDF files.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accounting context or financial entity mapping.
</a:t>
            </a:r>
            <a:pPr indent="0" marL="0">
              <a:buNone/>
            </a:pPr>
            <a:r>
              <a:rPr lang="en-US" sz="95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Fatal Flaw: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maintain balances, track debtors, or export.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103120"/>
                <a:gridCol w="2103120"/>
                <a:gridCol w="2499055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 / 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Paper Khata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Khatabook / OkCredit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</a:rPr>
                        <a:t>Payment Apps (UPI/QR)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D2D3"/>
                          </a:solidFill>
                        </a:rPr>
                        <a:t>KhataLens (Our Solution)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9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Data Entry Method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Pen &amp; Paper (Fast but messy)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</a:rPr>
                        <a:t>Manual Keyboard (25-40s)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Customer QR scan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Zero-Typing: Voice &amp; Chit OCR (&lt;3s)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Transaction Scope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Cash &amp; Credit (Unorganized)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Credit only (Manual)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</a:rPr>
                        <a:t>Digital UPI only (No cash/udhaar)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Universal: Cash, Credit, Chits &amp; Voice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Connectivity &amp; Cloud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</a:rPr>
                        <a:t>100% Offline (Physical)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</a:rPr>
                        <a:t>Cloud-mandatory / Sync delays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</a:rPr>
                        <a:t>Internet strictly required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100% On-Device &amp; Offline-First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Data Privacy &amp; Safety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Physical in shop (Lost easily)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Venture cloud servers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Corporate payment servers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Zero Cloud: 100% Data stays on phone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Query &amp; Actionability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43F5E"/>
                          </a:solidFill>
                        </a:rPr>
                        <a:t>Manual mental arithmetic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Static tabular lists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Payment history receipts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Conversational "Ask my Khata" + Office Kit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F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8640" y="5440680"/>
            <a:ext cx="11094415" cy="868680"/>
          </a:xfrm>
          <a:prstGeom prst="rect">
            <a:avLst/>
          </a:prstGeom>
          <a:solidFill>
            <a:srgbClr val="18143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532120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VERDICT: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applications force shopkeepers to become data-entry clerks. </a:t>
            </a:r>
            <a:pPr indent="0" marL="0">
              <a:buNone/>
            </a:pPr>
            <a:r>
              <a:rPr lang="en-US" sz="110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KhataLens is the only solution that integrates into the merchant's natural physical actions — pointing the phone camera or speaking aloud — with zero friction and absolute offline privacy.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A12"/>
          </a:solidFill>
          <a:ln w="6350">
            <a:solidFill>
              <a:srgbClr val="252F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37160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201A4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HACKATHON 2026 · FINTECH &amp; COMMERCE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38912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IDEA: TURNING PHYSICAL &amp; VERBAL REALITY INTO FINANCIAL FACTS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Point. Speak. Confirm. Done. — Eliminating data entry through intelligent on-device multimodal capture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511296" cy="2194560"/>
          </a:xfrm>
          <a:prstGeom prst="rect">
            <a:avLst/>
          </a:prstGeom>
          <a:solidFill>
            <a:srgbClr val="121626"/>
          </a:solidFill>
          <a:ln w="15240">
            <a:solidFill>
              <a:srgbClr val="00D2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25880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CAMERA → LEDGER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32369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Point phone at handwritten chits, diaries &amp; bills.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Local WebAssembly OCR (Tesseract.js) extracts raw text.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Regex + NLP parsing maps messy handwriting to:
</a:t>
            </a:r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{ Customer: "Ramesh", Amount: ₹500, Type: "Udhaar" }
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cloud upload: Image stays inside phone memory.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4256" y="1188720"/>
            <a:ext cx="3511296" cy="2194560"/>
          </a:xfrm>
          <a:prstGeom prst="rect">
            <a:avLst/>
          </a:prstGeom>
          <a:solidFill>
            <a:srgbClr val="121626"/>
          </a:solidFill>
          <a:ln w="15240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1416" y="1325880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 VOICE → LEDGER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71416" y="1645920"/>
            <a:ext cx="32369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Natural speech in Hindi, Telugu, English &amp; Hinglish.
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"Ramesh ko 500 ka tel diya udhaar" → Instant parsing.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Local intent engine handles spoken numerals &amp; currencies.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Sub-350ms processing — ready before the customer leaves.
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Audio frequency visualizer gives tactile feedback.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19872" y="1188720"/>
            <a:ext cx="3511296" cy="2194560"/>
          </a:xfrm>
          <a:prstGeom prst="rect">
            <a:avLst/>
          </a:prstGeom>
          <a:solidFill>
            <a:srgbClr val="121626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325880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100% ON-DEVICE INTELLIGENCE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57032" y="1645920"/>
            <a:ext cx="3236976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Cloud Calls: Pure client-side execution.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Operates in airplane mode, basements &amp; rural blind spots.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High-speed Dexie.js (IndexedDB) reactive relational store.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API subscriptions or recurring server bills.
</a:t>
            </a:r>
            <a:pPr indent="0" marL="0">
              <a:buNone/>
            </a:pPr>
            <a:r>
              <a:rPr lang="en-US" sz="100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Absolute privacy: Merchant's financial ledger stays unshared.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2560320" cy="1645920"/>
          </a:xfrm>
          <a:prstGeom prst="rect">
            <a:avLst/>
          </a:prstGeom>
          <a:solidFill>
            <a:srgbClr val="182038"/>
          </a:solidFill>
          <a:ln w="12700">
            <a:solidFill>
              <a:srgbClr val="00D2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2519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mic or snap photo (&lt;2 sec). Hands-free speech or chit scan.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92424" y="3611880"/>
            <a:ext cx="2560320" cy="1645920"/>
          </a:xfrm>
          <a:prstGeom prst="rect">
            <a:avLst/>
          </a:prstGeom>
          <a:solidFill>
            <a:srgbClr val="182038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9584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9584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AI PARSE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9584" y="42519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Extracts {Customer, Amount, Type, Item, Date} deterministically.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36208" y="3611880"/>
            <a:ext cx="2560320" cy="1645920"/>
          </a:xfrm>
          <a:prstGeom prst="rect">
            <a:avLst/>
          </a:prstGeom>
          <a:solidFill>
            <a:srgbClr val="1820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73368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CONFIRM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73368" y="42519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Color-coded confidence review. 1-tap confirm or instant edit.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79992" y="3611880"/>
            <a:ext cx="2560320" cy="1645920"/>
          </a:xfrm>
          <a:prstGeom prst="rect">
            <a:avLst/>
          </a:prstGeom>
          <a:solidFill>
            <a:srgbClr val="1820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17152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COMMIT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17152" y="42519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in offline ledger. Debtor balance &amp; summaries updated.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440680"/>
            <a:ext cx="11094415" cy="868680"/>
          </a:xfrm>
          <a:prstGeom prst="rect">
            <a:avLst/>
          </a:prstGeom>
          <a:solidFill>
            <a:srgbClr val="14182E"/>
          </a:solidFill>
          <a:ln w="12700">
            <a:solidFill>
              <a:srgbClr val="00D2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532120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INNOVATION: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didn't reinvent the ledger — we made the smartphone </a:t>
            </a:r>
            <a:pPr indent="0" marL="0">
              <a:buNone/>
            </a:pPr>
            <a:r>
              <a:rPr lang="en-US" sz="110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listen and see.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Shopkeepers don't change their behavior; KhataLens conforms to their natural voice and physical chits.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A12"/>
          </a:solidFill>
          <a:ln w="6350">
            <a:solidFill>
              <a:srgbClr val="252F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37160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201A4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HACKATHON 2026 · FINTECH &amp; COMMERCE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38912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WORKS: SYSTEM ARCHITECTURE &amp; THE "SMART CONFIRMATION" TRUST STORY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end-to-end local pipeline — why fast human-in-the-loop validation makes KhataLens trustworthy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6583680" cy="4114800"/>
          </a:xfrm>
          <a:prstGeom prst="rect">
            <a:avLst/>
          </a:prstGeom>
          <a:solidFill>
            <a:srgbClr val="121626"/>
          </a:solidFill>
          <a:ln w="12700">
            <a:solidFill>
              <a:srgbClr val="252F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258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END-TO-END ON-DEVICE PIPELINE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1691640"/>
            <a:ext cx="29718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00D2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6916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 CAMERA: Chit / Bill Image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77640" y="1691640"/>
            <a:ext cx="2971800" cy="594360"/>
          </a:xfrm>
          <a:prstGeom prst="rect">
            <a:avLst/>
          </a:prstGeom>
          <a:solidFill>
            <a:srgbClr val="1A1F36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16916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 VOICE: Speech Audio Stream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230428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 On-Device OCR (WASM)          ▼  Web Speech Recognition (ASR)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6217920" cy="685800"/>
          </a:xfrm>
          <a:prstGeom prst="rect">
            <a:avLst/>
          </a:prstGeom>
          <a:solidFill>
            <a:srgbClr val="1C1642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6060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LOCAL AI ENGINE (Deterministic NLP + Entity Extraction)
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Intent classifier (Udhaar / Jama)  • Regex currency &amp; item parser  • Language normalization (Hindi/Telugu/EN)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273552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 Structured Schema: { customer: "Ramesh", amount: 500, type: "debit", item: "oil" }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493008"/>
            <a:ext cx="6217920" cy="868680"/>
          </a:xfrm>
          <a:prstGeom prst="rect">
            <a:avLst/>
          </a:prstGeom>
          <a:solidFill>
            <a:srgbClr val="24182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547872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SMART CONFIRMATION (THE TRUST LAYER)
</a:t>
            </a:r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Green Confidence (&gt;85%): Instant 1-tap save with haptic feedback.
</a:t>
            </a:r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Amber / Uncertain: Highlights dubious fields ("Did you mean ₹500 or ₹50?").
</a:t>
            </a:r>
            <a:pPr indent="0" marL="0">
              <a:buNone/>
            </a:pPr>
            <a:r>
              <a:rPr lang="en-US" sz="95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Red / Missing: Prompts shopkeeper explicitly instead of guessing or hallucinating!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438912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 Human-Verified Financial Fact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617720"/>
            <a:ext cx="2971800" cy="594360"/>
          </a:xfrm>
          <a:prstGeom prst="rect">
            <a:avLst/>
          </a:prstGeom>
          <a:solidFill>
            <a:srgbClr val="142636"/>
          </a:solidFill>
          <a:ln w="12700">
            <a:solidFill>
              <a:srgbClr val="00D2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4515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💾 LOCAL LEDGER (Dexie DB)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IndexedDB 100% Offline Storage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77640" y="4617720"/>
            <a:ext cx="2971800" cy="594360"/>
          </a:xfrm>
          <a:prstGeom prst="rect">
            <a:avLst/>
          </a:prstGeom>
          <a:solidFill>
            <a:srgbClr val="20163B"/>
          </a:solidFill>
          <a:ln w="12700">
            <a:solidFill>
              <a:srgbClr val="A29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464515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💼 OFFICE KIT &amp; QUERIES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Export + "Ask my Khata"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0" y="1188720"/>
            <a:ext cx="4327855" cy="4114800"/>
          </a:xfrm>
          <a:prstGeom prst="rect">
            <a:avLst/>
          </a:prstGeom>
          <a:solidFill>
            <a:srgbClr val="121626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1325880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THE TRUST STORY: WHY THIS WINS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0" y="1691640"/>
            <a:ext cx="3962095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The Fatal Flaw of Financial AI: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social apps, AI mistakes are harmless. In financial ledgers, a hallucinated amount destroys trust and causes real disputes between shopkeeper and customer.
</a:t>
            </a:r>
            <a:pPr indent="0" marL="0">
              <a:buNone/>
            </a:pPr>
            <a:r>
              <a:rPr lang="en-US" sz="110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The Core Non-Negotiable Rule: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"KhataLens NEVER silently commits an AI interpretation as financial fact."
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What Happens When AI Gets It Wrong?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If audio is noisy → Prompts: "Couldn't catch the amount — please tap to enter."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If chit is unreadable → "Please hold closer or use better light."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shopkeeper is always in control with a fast 1-second touch confirmation.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Judge Alignment (30% Quality):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answers the #1 hackathon judge skepticism: "How can you trust OCR on messy Indian handwriting?" We trust it because human verification takes 0.5s.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1094415" cy="868680"/>
          </a:xfrm>
          <a:prstGeom prst="rect">
            <a:avLst/>
          </a:prstGeom>
          <a:solidFill>
            <a:srgbClr val="181D33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532120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PRINCIPLE: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speeds up the capture from 30 seconds to 2 seconds. </a:t>
            </a:r>
            <a:pPr indent="0" marL="0">
              <a:buNone/>
            </a:pPr>
            <a:r>
              <a:rPr lang="en-US" sz="110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Smart Confirmation ensures 100% mathematical and human accuracy. Speed without sacrifice of trust.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A12"/>
          </a:solidFill>
          <a:ln w="6350">
            <a:solidFill>
              <a:srgbClr val="252F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37160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201A4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HACKATHON 2026 · FINTECH &amp; COMMERCE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38912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WORKING PROTOTYPE: SCREENSHOTS &amp; PRODUCTION WORKFLOWS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7 workflows fully built, running locally, and verified with real application screenshots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606040" cy="3337560"/>
          </a:xfrm>
          <a:prstGeom prst="rect">
            <a:avLst/>
          </a:prstGeom>
          <a:solidFill>
            <a:srgbClr val="121626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9" name="Image 0" descr="docs/screenshots/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2423160" cy="21031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4747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SMART CONFIRMATION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37033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Trust Layer preview card
</a:t>
            </a:r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98% Confidence Indicator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Pre-filled Customer &amp; ₹ Amount
</a:t>
            </a:r>
            <a:pPr indent="0" marL="0">
              <a:buNone/>
            </a:pPr>
            <a:r>
              <a:rPr lang="en-US" sz="85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1-Tap Confirm or Instant Edit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74136" y="1234440"/>
            <a:ext cx="2606040" cy="3337560"/>
          </a:xfrm>
          <a:prstGeom prst="rect">
            <a:avLst/>
          </a:prstGeom>
          <a:solidFill>
            <a:srgbClr val="121626"/>
          </a:solidFill>
          <a:ln w="19050">
            <a:solidFill>
              <a:srgbClr val="00D2D3"/>
            </a:solidFill>
            <a:prstDash val="solid"/>
          </a:ln>
        </p:spPr>
      </p:sp>
      <p:pic>
        <p:nvPicPr>
          <p:cNvPr id="13" name="Image 1" descr="docs/screenshots/vo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325880"/>
            <a:ext cx="2423160" cy="21031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65576" y="34747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VOICE CAPTURE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465576" y="37033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Hindi / Telugu / English speech
</a:t>
            </a:r>
            <a:pPr indent="0" marL="0">
              <a:buNone/>
            </a:pPr>
            <a:r>
              <a:rPr lang="en-US" sz="85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frequency audio waveform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Sub-350ms entity extraction
</a:t>
            </a:r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Quick suggestion speech chips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99632" y="1234440"/>
            <a:ext cx="2606040" cy="3337560"/>
          </a:xfrm>
          <a:prstGeom prst="rect">
            <a:avLst/>
          </a:prstGeom>
          <a:solidFill>
            <a:srgbClr val="121626"/>
          </a:solidFill>
          <a:ln w="19050">
            <a:solidFill>
              <a:srgbClr val="6C5CE7"/>
            </a:solidFill>
            <a:prstDash val="solid"/>
          </a:ln>
        </p:spPr>
      </p:sp>
      <p:pic>
        <p:nvPicPr>
          <p:cNvPr id="17" name="Image 2" descr="docs/screenshots/que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325880"/>
            <a:ext cx="2423160" cy="21031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34747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"ASK MY KHATA"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291072" y="37033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Natural-language ledger query
</a:t>
            </a:r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"Ramesh ka kitna udhaar hai?"
</a:t>
            </a:r>
            <a:pPr indent="0" marL="0">
              <a:buNone/>
            </a:pPr>
            <a:r>
              <a:rPr lang="en-US" sz="85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"Who owes me the most?"
</a:t>
            </a:r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Sub-15ms local query response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9025128" y="1234440"/>
            <a:ext cx="2606040" cy="3337560"/>
          </a:xfrm>
          <a:prstGeom prst="rect">
            <a:avLst/>
          </a:prstGeom>
          <a:solidFill>
            <a:srgbClr val="121626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21" name="Image 3" descr="docs/screenshots/sum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6568" y="1325880"/>
            <a:ext cx="2423160" cy="21031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6568" y="347472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DAILY SUMMARY &amp; STATS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9116568" y="37033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Day closing cashflow dashboard
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Sales, expenses, credit given
</a:t>
            </a:r>
            <a:pPr indent="0" marL="0">
              <a:buNone/>
            </a:pPr>
            <a:r>
              <a:rPr lang="en-US" sz="85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Top outstanding debtors list
</a:t>
            </a:r>
            <a:pPr indent="0" marL="0">
              <a:buNone/>
            </a:pPr>
            <a:r>
              <a:rPr lang="en-US" sz="85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Visual distribution chart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11094415" cy="1600200"/>
          </a:xfrm>
          <a:prstGeom prst="rect">
            <a:avLst/>
          </a:prstGeom>
          <a:solidFill>
            <a:srgbClr val="101428"/>
          </a:solidFill>
          <a:ln w="12700">
            <a:solidFill>
              <a:srgbClr val="252F4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31520" y="4800600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MEASURED BENCHMARKS ON HARDWARE (NOT ESTIMATES)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31520" y="5074920"/>
            <a:ext cx="2011680" cy="1051560"/>
          </a:xfrm>
          <a:prstGeom prst="rect">
            <a:avLst/>
          </a:prstGeom>
          <a:solidFill>
            <a:srgbClr val="182038"/>
          </a:solidFill>
          <a:ln w="12700">
            <a:solidFill>
              <a:srgbClr val="252F4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77240" y="51389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SPEECH ASR TO INTENT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777240" y="53218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&lt;350 ms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77240" y="5715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accelerated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2971800" y="5074920"/>
            <a:ext cx="2011680" cy="1051560"/>
          </a:xfrm>
          <a:prstGeom prst="rect">
            <a:avLst/>
          </a:prstGeom>
          <a:solidFill>
            <a:srgbClr val="182038"/>
          </a:solidFill>
          <a:ln w="12700">
            <a:solidFill>
              <a:srgbClr val="252F4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3017520" y="51389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WASM CHIT OCR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3017520" y="53218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 sec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3017520" y="5715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Tesseract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5212080" y="5074920"/>
            <a:ext cx="2011680" cy="1051560"/>
          </a:xfrm>
          <a:prstGeom prst="rect">
            <a:avLst/>
          </a:prstGeom>
          <a:solidFill>
            <a:srgbClr val="182038"/>
          </a:solidFill>
          <a:ln w="12700">
            <a:solidFill>
              <a:srgbClr val="252F4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257800" y="51389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DB QUERY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5257800" y="53218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&lt;15 ms</a:t>
            </a:r>
            <a:endParaRPr lang="en-US" sz="1700" dirty="0"/>
          </a:p>
        </p:txBody>
      </p:sp>
      <p:sp>
        <p:nvSpPr>
          <p:cNvPr id="37" name="Text 31"/>
          <p:cNvSpPr/>
          <p:nvPr/>
        </p:nvSpPr>
        <p:spPr>
          <a:xfrm>
            <a:off x="5257800" y="5715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IndexedDB indexed filter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7452360" y="5074920"/>
            <a:ext cx="2011680" cy="1051560"/>
          </a:xfrm>
          <a:prstGeom prst="rect">
            <a:avLst/>
          </a:prstGeom>
          <a:solidFill>
            <a:srgbClr val="182038"/>
          </a:solidFill>
          <a:ln w="12700">
            <a:solidFill>
              <a:srgbClr val="252F4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498080" y="51389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DATA PACKET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7498080" y="53218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Bytes</a:t>
            </a:r>
            <a:endParaRPr lang="en-US" sz="1700" dirty="0"/>
          </a:p>
        </p:txBody>
      </p:sp>
      <p:sp>
        <p:nvSpPr>
          <p:cNvPr id="41" name="Text 35"/>
          <p:cNvSpPr/>
          <p:nvPr/>
        </p:nvSpPr>
        <p:spPr>
          <a:xfrm>
            <a:off x="7498080" y="5715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On-Device / Offline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9692640" y="5074920"/>
            <a:ext cx="2011680" cy="1051560"/>
          </a:xfrm>
          <a:prstGeom prst="rect">
            <a:avLst/>
          </a:prstGeom>
          <a:solidFill>
            <a:srgbClr val="182038"/>
          </a:solidFill>
          <a:ln w="12700">
            <a:solidFill>
              <a:srgbClr val="252F48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738360" y="513892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BUNDLE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9738360" y="53218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474 KB</a:t>
            </a:r>
            <a:endParaRPr lang="en-US" sz="1700" dirty="0"/>
          </a:p>
        </p:txBody>
      </p:sp>
      <p:sp>
        <p:nvSpPr>
          <p:cNvPr id="45" name="Text 39"/>
          <p:cNvSpPr/>
          <p:nvPr/>
        </p:nvSpPr>
        <p:spPr>
          <a:xfrm>
            <a:off x="9738360" y="5715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6 tree-shaken ESM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A12"/>
          </a:solidFill>
          <a:ln w="6350">
            <a:solidFill>
              <a:srgbClr val="252F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37160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201A4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HACKATHON 2026 · FINTECH &amp; COMMERCE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38912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THE PHONE (AND OFFICE KIT) MATTER: A GENUINE TWO-SCREEN WORKFLOW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native hardware for daytime capture; desktop screen for evening reconciliation &amp; tax export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303520" cy="4114800"/>
          </a:xfrm>
          <a:prstGeom prst="rect">
            <a:avLst/>
          </a:prstGeom>
          <a:solidFill>
            <a:srgbClr val="121626"/>
          </a:solidFill>
          <a:ln w="15240">
            <a:solidFill>
              <a:srgbClr val="00D2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25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📱 1. WHY THE PHONE IS ESSENTIAL (NOT DECORATIVE)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Camera Optics &amp; Macro Lens: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Handwritten chits on oil-stained counter paper require high-contrast camera sensors and on-device lens focus. Only a handheld phone can capture chits instantly.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Microphone Array &amp; Noise Filtering: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Kiranas are loud, bustling environments. The smartphone mic array with hardware noise suppression enables accurate vernacular speech recognition amid background traffic.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Point-of-Sale Mobility: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The shopkeeper moves from the sack of wheat to the counter to the storage shelf. A laptop cannot be carried while weighing pulses; the phone is always in hand.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On-Device Acceleration: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Local inference utilizes phone hardware acceleration to execute OCR and NLP in sub-second time without needing a desktop GPU or internet connection.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5608015" cy="4114800"/>
          </a:xfrm>
          <a:prstGeom prst="rect">
            <a:avLst/>
          </a:prstGeom>
          <a:solidFill>
            <a:srgbClr val="121626"/>
          </a:solidFill>
          <a:ln w="15240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325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2. OFFICE KIT: PHONE → LAPTOP HANDOFF</a:t>
            </a:r>
            <a:endParaRPr lang="en-US" sz="1250" dirty="0"/>
          </a:p>
        </p:txBody>
      </p:sp>
      <p:pic>
        <p:nvPicPr>
          <p:cNvPr id="13" name="Image 0" descr="docs/screenshots/office_k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691640"/>
            <a:ext cx="5242255" cy="1554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217920" y="3337560"/>
            <a:ext cx="524225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Genuine Daily Closing Workflow (Not a Mirroring Gimmick):
</a:t>
            </a:r>
            <a:pPr indent="0" marL="0">
              <a:buNone/>
            </a:pPr>
            <a:r>
              <a:rPr lang="en-US" sz="100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Daytime (Phone):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High-speed voice &amp; camera capture throughout chaotic retail hours.
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Nighttime (Laptop):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 closing handoff. Connect via Office Kit to unlock widescreen capabilities a 6-inch phone screen physically cannot provide: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1. Multi-Column Ledger Reconciliation: Audit 200+ entries side-by-side.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2. 1-Click Excel (.xlsx) &amp; CSV Export: SheetJS generates clean spreadsheets ready for CAs, GST filing, and Tally/Zoho import.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3. Cash vs. Udhaar Cross-Check: Balancing drawer cash with credit totals.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5440680"/>
            <a:ext cx="11094415" cy="868680"/>
          </a:xfrm>
          <a:prstGeom prst="rect">
            <a:avLst/>
          </a:prstGeom>
          <a:solidFill>
            <a:srgbClr val="181D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532120"/>
            <a:ext cx="1072865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TWO-SCREEN SYNERGY: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smartphone captures the messy, fast physical reality at the counter. </a:t>
            </a:r>
            <a:pPr indent="0" marL="0">
              <a:buNone/>
            </a:pPr>
            <a:r>
              <a:rPr lang="en-US" sz="110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laptop organizes, audits, and reconciles the accounting truth at night. A complete retail business operating system.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80A12"/>
          </a:solidFill>
          <a:ln w="6350">
            <a:solidFill>
              <a:srgbClr val="252F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37160"/>
            <a:ext cx="4389120" cy="274320"/>
          </a:xfrm>
          <a:prstGeom prst="roundRect">
            <a:avLst>
              <a:gd name="adj" fmla="val 50000"/>
            </a:avLst>
          </a:prstGeom>
          <a:solidFill>
            <a:srgbClr val="201A45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iQOO HACKATHON 2026 · FINTECH &amp; COMMERCE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15600" y="137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/ 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438912"/>
            <a:ext cx="1109441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IMPACT, RADICAL PRIVACY &amp; TEAM CREDENTIALS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by architecture, sticky merchant economics, and proven full-stack execution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511296" cy="4114800"/>
          </a:xfrm>
          <a:prstGeom prst="rect">
            <a:avLst/>
          </a:prstGeom>
          <a:solidFill>
            <a:srgbClr val="121626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25880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RADICAL PRIVACY-FIRST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3236976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On-Device Data Storage: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Customer phone numbers, purchase histories, and credit amounts never leave the local IndexedDB.
</a:t>
            </a:r>
            <a:pPr indent="0" marL="0">
              <a:buNone/>
            </a:pPr>
            <a:r>
              <a:rPr lang="en-US" sz="105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Cloud Surveillance: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Protects shopkeepers from aggressive fintech telemarketers, data scraping, and third-party profiling.
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Account Friction: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No phone number required, no OTP, no password to remember. Instant utility on first tap.
</a:t>
            </a:r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Infinite Margin Scalability: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Zero cloud AI bills. Serving 10 million shopkeepers costs the exact same server infrastructure as serving 1.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4256" y="1188720"/>
            <a:ext cx="3511296" cy="4114800"/>
          </a:xfrm>
          <a:prstGeom prst="rect">
            <a:avLst/>
          </a:prstGeom>
          <a:solidFill>
            <a:srgbClr val="121626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1416" y="1325880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TARGET USERS &amp; STICKINESS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71416" y="1691640"/>
            <a:ext cx="3236976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15M+ Kirana &amp; Grocery Stores: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Capture fast counter credits in 2 seconds without putting down goods.
</a:t>
            </a:r>
            <a:pPr indent="0" marL="0">
              <a:buNone/>
            </a:pPr>
            <a:r>
              <a:rPr lang="en-US" sz="105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10M+ Street Vendors &amp; Food Carts: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Hands-free voice recording in bustling outdoor markets.
</a:t>
            </a:r>
            <a:pPr indent="0" marL="0">
              <a:buNone/>
            </a:pPr>
            <a:r>
              <a:rPr lang="en-US" sz="105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Small Workshops &amp; Distributors: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Scan handwritten delivery challans and paper chits.
</a:t>
            </a:r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Extreme Daily Retention: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Saves 45 minutes of painful manual tallying each night. Recovers ₹1,500–₹5,000/month in forgotten credit.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19872" y="1188720"/>
            <a:ext cx="3511296" cy="4114800"/>
          </a:xfrm>
          <a:prstGeom prst="rect">
            <a:avLst/>
          </a:prstGeom>
          <a:solidFill>
            <a:srgbClr val="121626"/>
          </a:solidFill>
          <a:ln w="15240">
            <a:solidFill>
              <a:srgbClr val="6C5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325880"/>
            <a:ext cx="3236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TEAM &amp; EXECUTION TRACK RECORD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57032" y="1691640"/>
            <a:ext cx="3236976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Lead Architect &amp; Developer: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faraaz-748-019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Full-Stack Systems &amp; Local AI Engineer.
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Proven Hackathon Execution: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Delivered 20 production-grade source files, complete offline PWA, Tesseract WASM integration, and responsive dark AMOLED UI.
</a:t>
            </a:r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GitHub Codebase &amp; Demo:
</a:t>
            </a:r>
            <a:pPr indent="0" marL="0">
              <a:buNone/>
            </a:pPr>
            <a:r>
              <a:rPr lang="en-US" sz="950" dirty="0">
                <a:solidFill>
                  <a:srgbClr val="A29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Publicly submitted repository at:
   github.com/faraaz-748-019/IQOO
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Ready for Demo Day: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Live working prototype ready for real-time judge testing on Android device.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11094415" cy="868680"/>
          </a:xfrm>
          <a:prstGeom prst="rect">
            <a:avLst/>
          </a:prstGeom>
          <a:solidFill>
            <a:srgbClr val="1A153A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504688"/>
            <a:ext cx="107286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CLOSING PITCH: </a:t>
            </a:r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KhataLens transforms the smartphone into India's most empowering financial lens. </a:t>
            </a:r>
            <a:pPr algn="ctr" indent="0" marL="0">
              <a:buNone/>
            </a:pPr>
            <a:r>
              <a:rPr lang="en-US" sz="1100" dirty="0">
                <a:solidFill>
                  <a:srgbClr val="00D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typing. No cloud surveillance. No forgotten debts.
</a:t>
            </a:r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Point. Speak. Confirm. Done.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2026-09-22T13:44:58Z</dcterms:created>
  <dcterms:modified xsi:type="dcterms:W3CDTF">2026-09-22T13:44:58Z</dcterms:modified>
</cp:coreProperties>
</file>